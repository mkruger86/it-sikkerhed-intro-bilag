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aveat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Nunito"/>
      <p:regular r:id="rId21"/>
      <p:bold r:id="rId22"/>
      <p:italic r:id="rId23"/>
      <p:boldItalic r:id="rId24"/>
    </p:embeddedFont>
    <p:embeddedFont>
      <p:font typeface="Alfa Slab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lfaSlab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Caveat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Caveat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603d55812_0_1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603d55812_0_1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603d55812_0_1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603d55812_0_1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6403ec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86403ec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816150bf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816150bf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83c578c87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83c578c8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b0c2ace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8b0c2ace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8b0c2ace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8b0c2ace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8b0c2ace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8b0c2ace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8b0c2ace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8b0c2ace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941700" y="3059925"/>
            <a:ext cx="3630300" cy="104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5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Introduktion</a:t>
            </a:r>
            <a:endParaRPr sz="5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9" name="Google Shape;129;p13"/>
          <p:cNvSpPr txBox="1"/>
          <p:nvPr>
            <p:ph idx="4294967295" type="subTitle"/>
          </p:nvPr>
        </p:nvSpPr>
        <p:spPr>
          <a:xfrm>
            <a:off x="0" y="1122900"/>
            <a:ext cx="5266500" cy="217770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a" sz="5500">
                <a:solidFill>
                  <a:srgbClr val="F6B26B"/>
                </a:solidFill>
                <a:latin typeface="Alfa Slab One"/>
                <a:ea typeface="Alfa Slab One"/>
                <a:cs typeface="Alfa Slab One"/>
                <a:sym typeface="Alfa Slab One"/>
              </a:rPr>
              <a:t>OWASP</a:t>
            </a:r>
            <a:endParaRPr b="1" sz="5500">
              <a:solidFill>
                <a:srgbClr val="F6B26B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da" sz="5500">
                <a:solidFill>
                  <a:srgbClr val="F6B26B"/>
                </a:solidFill>
                <a:latin typeface="Alfa Slab One"/>
                <a:ea typeface="Alfa Slab One"/>
                <a:cs typeface="Alfa Slab One"/>
                <a:sym typeface="Alfa Slab One"/>
              </a:rPr>
              <a:t>Juice Shop</a:t>
            </a:r>
            <a:endParaRPr b="1" i="1" sz="5500">
              <a:solidFill>
                <a:srgbClr val="F6B26B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675" y="397224"/>
            <a:ext cx="4287101" cy="468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/>
        </p:nvSpPr>
        <p:spPr>
          <a:xfrm>
            <a:off x="145650" y="1802608"/>
            <a:ext cx="4747500" cy="2942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da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XXE er en sårbarhed, der kan opstå, når et system modtager og behandler XML-data på en usikker måde.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da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Angrebet går ud på, at angriberen skjuler instruktioner i XML-inputtet, så systemet forsøger at hente eller læse data det ikke burde, f.eks lokale filer på serveren.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da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 f.eks være lokale filer på serveren, interne systemer på netværket eller andre adresser, som serveren selv har adgang til.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da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Problemet skyldes XML ikke kun behandles som data, men også som instruktioner, fordi selve parseren forsøger at opløse entiteter og eksterne referencer i inputtet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da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Konsekvensen kan være information disclosure, SSRF (Server-Side Request Forgery) eller denial of service.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610975" y="122375"/>
            <a:ext cx="2603100" cy="9777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a" sz="2600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rPr>
              <a:t>XML External Entities(XXE)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55129" y="200998"/>
            <a:ext cx="668400" cy="494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3500">
                <a:solidFill>
                  <a:srgbClr val="F6B26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500">
              <a:solidFill>
                <a:srgbClr val="F6B2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3470000" y="-23125"/>
            <a:ext cx="25200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20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XML</a:t>
            </a:r>
            <a:endParaRPr sz="20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a" sz="1200">
                <a:solidFill>
                  <a:schemeClr val="dk1"/>
                </a:solidFill>
              </a:rPr>
              <a:t>T</a:t>
            </a:r>
            <a:r>
              <a:rPr i="1" lang="da" sz="1200">
                <a:solidFill>
                  <a:schemeClr val="dk1"/>
                </a:solidFill>
              </a:rPr>
              <a:t>ekstbaseret markup-sprog, der repræsenterer data gennem brugerdefinerede elementer i en hierarkisk træstruktur. </a:t>
            </a:r>
            <a:r>
              <a:rPr i="1" lang="da" sz="1200">
                <a:solidFill>
                  <a:schemeClr val="dk1"/>
                </a:solidFill>
              </a:rPr>
              <a:t> </a:t>
            </a:r>
            <a:endParaRPr i="1" sz="1300">
              <a:solidFill>
                <a:schemeClr val="dk1"/>
              </a:solidFill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6131550" y="-23125"/>
            <a:ext cx="28548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20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Ekstern </a:t>
            </a:r>
            <a:r>
              <a:rPr lang="da" sz="20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Entitet</a:t>
            </a:r>
            <a:endParaRPr sz="20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a" sz="1200">
                <a:solidFill>
                  <a:schemeClr val="dk1"/>
                </a:solidFill>
              </a:rPr>
              <a:t>Mekanisme i XML, hvor et navn i dokumentet ikke får sin værdi direkte fra dokumentets egen tekst, men fra en ressource uden for dokumentet. </a:t>
            </a:r>
            <a:endParaRPr i="1" sz="1300">
              <a:solidFill>
                <a:schemeClr val="dk1"/>
              </a:solidFill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4893150" y="1425000"/>
            <a:ext cx="4105200" cy="3571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b="1" lang="da" sz="1500">
                <a:latin typeface="Calibri"/>
                <a:ea typeface="Calibri"/>
                <a:cs typeface="Calibri"/>
                <a:sym typeface="Calibri"/>
              </a:rPr>
              <a:t>In-band XXE: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latin typeface="Calibri"/>
                <a:ea typeface="Calibri"/>
                <a:cs typeface="Calibri"/>
                <a:sym typeface="Calibri"/>
              </a:rPr>
              <a:t>Den indsatte XML-kode afspejles direkte i serverens svar, hvilket gør det muligt straks at udlæse lokale filer eller data.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b="1" lang="da" sz="1500">
                <a:latin typeface="Calibri"/>
                <a:ea typeface="Calibri"/>
                <a:cs typeface="Calibri"/>
                <a:sym typeface="Calibri"/>
              </a:rPr>
              <a:t>Out-of-band XXE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latin typeface="Calibri"/>
                <a:ea typeface="Calibri"/>
                <a:cs typeface="Calibri"/>
                <a:sym typeface="Calibri"/>
              </a:rPr>
              <a:t>indsatte XML får serveren til at sende data videre til et eksternt system under angriberens kontrol, typisk via HTTP eller DNS.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b="1" lang="da" sz="1500">
                <a:latin typeface="Calibri"/>
                <a:ea typeface="Calibri"/>
                <a:cs typeface="Calibri"/>
                <a:sym typeface="Calibri"/>
              </a:rPr>
              <a:t>Blind XXE: 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a" sz="1300">
                <a:latin typeface="Calibri"/>
                <a:ea typeface="Calibri"/>
                <a:cs typeface="Calibri"/>
                <a:sym typeface="Calibri"/>
              </a:rPr>
              <a:t>applikationen viser ikke direkte om angrebet lykkes, derfor må angriberen  i stedet vurdere det ud fra indirekte tegn, såsom fejlmeddelelser, tidsforsinkelser eller eksterne tilbagemeldinger.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/>
          <p:nvPr/>
        </p:nvSpPr>
        <p:spPr>
          <a:xfrm>
            <a:off x="170716" y="90900"/>
            <a:ext cx="890700" cy="494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3500">
                <a:solidFill>
                  <a:srgbClr val="F6B26B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endParaRPr sz="3500">
              <a:solidFill>
                <a:srgbClr val="F6B2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865707" y="229975"/>
            <a:ext cx="3673800" cy="625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a" sz="2600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rPr>
              <a:t>XXE, Demo 1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170716" y="90900"/>
            <a:ext cx="890700" cy="494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3500">
                <a:solidFill>
                  <a:srgbClr val="F6B26B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endParaRPr sz="3500">
              <a:solidFill>
                <a:srgbClr val="F6B2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25" y="1095850"/>
            <a:ext cx="4432950" cy="3759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15"/>
          <p:cNvSpPr txBox="1"/>
          <p:nvPr/>
        </p:nvSpPr>
        <p:spPr>
          <a:xfrm>
            <a:off x="5829400" y="412575"/>
            <a:ext cx="25200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25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Challenge</a:t>
            </a:r>
            <a:endParaRPr sz="25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chemeClr val="dk1"/>
                </a:solidFill>
              </a:rPr>
              <a:t>Retrieve the content of C:\Windows\system.ini or /etc/passwd from the server</a:t>
            </a:r>
            <a:r>
              <a:rPr lang="da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da" sz="1100">
                <a:solidFill>
                  <a:schemeClr val="dk1"/>
                </a:solidFill>
              </a:rPr>
              <a:t> </a:t>
            </a:r>
            <a:r>
              <a:rPr i="1" lang="da" sz="1200">
                <a:solidFill>
                  <a:schemeClr val="dk1"/>
                </a:solidFill>
              </a:rPr>
              <a:t> </a:t>
            </a:r>
            <a:endParaRPr i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6900"/>
            <a:ext cx="4254349" cy="28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100" y="3966651"/>
            <a:ext cx="9015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088" y="60109"/>
            <a:ext cx="9015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38950" y="166150"/>
            <a:ext cx="2961101" cy="85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6"/>
          <p:cNvCxnSpPr>
            <a:stCxn id="156" idx="3"/>
            <a:endCxn id="159" idx="1"/>
          </p:cNvCxnSpPr>
          <p:nvPr/>
        </p:nvCxnSpPr>
        <p:spPr>
          <a:xfrm>
            <a:off x="1064663" y="593509"/>
            <a:ext cx="684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" name="Google Shape;160;p16"/>
          <p:cNvCxnSpPr/>
          <p:nvPr/>
        </p:nvCxnSpPr>
        <p:spPr>
          <a:xfrm>
            <a:off x="4454813" y="593509"/>
            <a:ext cx="684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1" name="Google Shape;161;p16"/>
          <p:cNvSpPr/>
          <p:nvPr/>
        </p:nvSpPr>
        <p:spPr>
          <a:xfrm>
            <a:off x="7844975" y="246700"/>
            <a:ext cx="684000" cy="6936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16"/>
          <p:cNvCxnSpPr/>
          <p:nvPr/>
        </p:nvCxnSpPr>
        <p:spPr>
          <a:xfrm>
            <a:off x="1064663" y="4500051"/>
            <a:ext cx="684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63" name="Google Shape;163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48800" y="4252392"/>
            <a:ext cx="27060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48800" y="383950"/>
            <a:ext cx="27060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38950" y="4119050"/>
            <a:ext cx="2961100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16"/>
          <p:cNvCxnSpPr/>
          <p:nvPr/>
        </p:nvCxnSpPr>
        <p:spPr>
          <a:xfrm>
            <a:off x="4454813" y="4500059"/>
            <a:ext cx="684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7" name="Google Shape;167;p16"/>
          <p:cNvSpPr txBox="1"/>
          <p:nvPr/>
        </p:nvSpPr>
        <p:spPr>
          <a:xfrm>
            <a:off x="4692600" y="2036550"/>
            <a:ext cx="385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500"/>
              <a:buChar char="-"/>
            </a:pPr>
            <a:r>
              <a:rPr b="1" lang="da" sz="1500">
                <a:solidFill>
                  <a:srgbClr val="F9CB9C"/>
                </a:solidFill>
              </a:rPr>
              <a:t>Sanitering af fil-upload. Tillader kun PDF og ZIP typer</a:t>
            </a:r>
            <a:endParaRPr b="1" sz="1500">
              <a:solidFill>
                <a:srgbClr val="F9CB9C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500"/>
              <a:buChar char="-"/>
            </a:pPr>
            <a:r>
              <a:rPr b="1" lang="da" sz="1500">
                <a:solidFill>
                  <a:srgbClr val="F9CB9C"/>
                </a:solidFill>
              </a:rPr>
              <a:t>Konvertering til PDF fil</a:t>
            </a:r>
            <a:endParaRPr b="1" sz="1500">
              <a:solidFill>
                <a:srgbClr val="F9CB9C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500"/>
              <a:buChar char="-"/>
            </a:pPr>
            <a:r>
              <a:rPr b="1" lang="da" sz="1500">
                <a:solidFill>
                  <a:srgbClr val="F9CB9C"/>
                </a:solidFill>
              </a:rPr>
              <a:t>Filen kan nu uploades</a:t>
            </a:r>
            <a:r>
              <a:rPr b="1" i="1" lang="da" sz="1500">
                <a:solidFill>
                  <a:srgbClr val="F9CB9C"/>
                </a:solidFill>
              </a:rPr>
              <a:t>.</a:t>
            </a:r>
            <a:endParaRPr b="1" i="1" sz="1500">
              <a:solidFill>
                <a:srgbClr val="F9CB9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50" y="2637675"/>
            <a:ext cx="1881925" cy="1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3500" y="2338425"/>
            <a:ext cx="5940099" cy="25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844500" y="78650"/>
            <a:ext cx="7859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300"/>
              <a:buChar char="●"/>
            </a:pPr>
            <a:r>
              <a:rPr lang="da" sz="1300">
                <a:solidFill>
                  <a:srgbClr val="F9CB9C"/>
                </a:solidFill>
              </a:rPr>
              <a:t>Burp Suite opsnapper HTTP-trafikken, så </a:t>
            </a:r>
            <a:r>
              <a:rPr lang="da" sz="1300">
                <a:solidFill>
                  <a:srgbClr val="F9CB9C"/>
                </a:solidFill>
              </a:rPr>
              <a:t>upload anmodningen</a:t>
            </a:r>
            <a:r>
              <a:rPr lang="da" sz="1300">
                <a:solidFill>
                  <a:srgbClr val="F9CB9C"/>
                </a:solidFill>
              </a:rPr>
              <a:t> kan standses og inspiceres, før den nå</a:t>
            </a:r>
            <a:r>
              <a:rPr lang="da" sz="1300">
                <a:solidFill>
                  <a:srgbClr val="F9CB9C"/>
                </a:solidFill>
              </a:rPr>
              <a:t>r </a:t>
            </a:r>
            <a:r>
              <a:rPr lang="da" sz="1300">
                <a:solidFill>
                  <a:srgbClr val="F9CB9C"/>
                </a:solidFill>
              </a:rPr>
              <a:t>serveren.</a:t>
            </a:r>
            <a:endParaRPr sz="1300">
              <a:solidFill>
                <a:srgbClr val="F9CB9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300"/>
              <a:buChar char="●"/>
            </a:pPr>
            <a:r>
              <a:rPr lang="da" sz="1300">
                <a:solidFill>
                  <a:srgbClr val="F9CB9C"/>
                </a:solidFill>
              </a:rPr>
              <a:t>Ved klik på Submit fanger Burp den relevante POST-anmodning til endpointet /file-upload.</a:t>
            </a:r>
            <a:endParaRPr sz="1300">
              <a:solidFill>
                <a:srgbClr val="F9CB9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300"/>
              <a:buChar char="●"/>
            </a:pPr>
            <a:r>
              <a:rPr lang="da" sz="1300">
                <a:solidFill>
                  <a:srgbClr val="F9CB9C"/>
                </a:solidFill>
              </a:rPr>
              <a:t>Anmodningen indeholder en multipart/form-data-struktur, hvor den uploadede fil indgår som et separat felt i request-bodyen.</a:t>
            </a:r>
            <a:endParaRPr sz="1300">
              <a:solidFill>
                <a:srgbClr val="F9CB9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300"/>
              <a:buChar char="●"/>
            </a:pPr>
            <a:r>
              <a:rPr lang="da" sz="1300">
                <a:solidFill>
                  <a:srgbClr val="F9CB9C"/>
                </a:solidFill>
              </a:rPr>
              <a:t>I den opsnappede request fremgår det, at filen på dette tidspunkt stadig sendes som filename="Complaint.pdf".</a:t>
            </a:r>
            <a:endParaRPr sz="1300">
              <a:solidFill>
                <a:srgbClr val="F9CB9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300"/>
              <a:buChar char="●"/>
            </a:pPr>
            <a:r>
              <a:rPr lang="da" sz="1300">
                <a:solidFill>
                  <a:srgbClr val="F9CB9C"/>
                </a:solidFill>
              </a:rPr>
              <a:t>Headeren Content-Type: application/pdf viser, at applikationen på klientsiden fortsat behandler filen som en PDF.</a:t>
            </a:r>
            <a:endParaRPr sz="1300">
              <a:solidFill>
                <a:srgbClr val="F9CB9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300"/>
              <a:buChar char="●"/>
            </a:pPr>
            <a:r>
              <a:rPr lang="da" sz="1300">
                <a:solidFill>
                  <a:srgbClr val="F9CB9C"/>
                </a:solidFill>
              </a:rPr>
              <a:t>Denne opsnappede request danner grundlaget for den videre manipulation i Burp Repeater</a:t>
            </a:r>
            <a:endParaRPr sz="1300">
              <a:solidFill>
                <a:srgbClr val="F9CB9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492449" cy="24852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50" y="1121863"/>
            <a:ext cx="3543901" cy="2485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" name="Google Shape;18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550" y="3707738"/>
            <a:ext cx="3543900" cy="65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2" name="Google Shape;182;p18"/>
          <p:cNvCxnSpPr/>
          <p:nvPr/>
        </p:nvCxnSpPr>
        <p:spPr>
          <a:xfrm>
            <a:off x="3735915" y="1849939"/>
            <a:ext cx="723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3" name="Google Shape;183;p18"/>
          <p:cNvSpPr txBox="1"/>
          <p:nvPr/>
        </p:nvSpPr>
        <p:spPr>
          <a:xfrm>
            <a:off x="3936550" y="2571750"/>
            <a:ext cx="5127900" cy="24144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a" sz="1100"/>
              <a:t>I Burp Repeater ændres fil-delen i requesten fra PDF til XML ved at udskifte filename="Complaint.pdf" med filename="xxe.xml" og Content-Type: application/pdf med Content-Type: text/xml. Hele PDF-indholdet slettes derefter frem til næste boundary og erstattes af XML-payloaden.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a" sz="1100"/>
              <a:t>XML-koden starter med XML-deklarationen og en DOCTYPE, som gør det muligt at definere entiteter. Linjen &lt;!ENTITY xxe SYSTEM "file:///etc/passwd"&gt; opretter en ekstern entitet, der peger på serverens lokale fil /etc/passwd.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a" sz="1100"/>
              <a:t>Når entiteten derefter bruges i &lt;foo&gt;&amp;xxe;&lt;/foo&gt;, forsøger parseren at erstatte &amp;xxe; med filens indhold. Dermed tvinges applikationen til at læse en lokal systemfil, selv om brugeren kun burde kunne uploade en almindelig invoice.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150"/>
            <a:ext cx="9143999" cy="49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888" y="697513"/>
            <a:ext cx="2266950" cy="3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6000" y="1229134"/>
            <a:ext cx="4724400" cy="3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4950" y="1748213"/>
            <a:ext cx="3552825" cy="3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2213" y="244538"/>
            <a:ext cx="1838325" cy="35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865050" y="2571750"/>
            <a:ext cx="7413900" cy="1662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300"/>
              <a:buChar char="●"/>
            </a:pPr>
            <a:r>
              <a:rPr lang="da" sz="1100">
                <a:solidFill>
                  <a:srgbClr val="FCE5CD"/>
                </a:solidFill>
              </a:rPr>
              <a:t>HTTP/1.1 viser, at serverens response sendes over HTTP-protokollen, mens statuskoden 410 Gone betyder, at den pågældende uploadfunktion formelt er udfaset og ikke længere burde være tilgængelig.</a:t>
            </a:r>
            <a:endParaRPr sz="1100">
              <a:solidFill>
                <a:srgbClr val="FCE5CD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300"/>
              <a:buChar char="●"/>
            </a:pPr>
            <a:r>
              <a:rPr lang="da" sz="1100">
                <a:solidFill>
                  <a:srgbClr val="FCE5CD"/>
                </a:solidFill>
              </a:rPr>
              <a:t>Linjen med root:...:/root:/usr/bin/zsh stammer fra /etc/passwd og viser superbrugerkontoen root, dens hjemmemappe /root og dens shell /usr/bin/zsh.</a:t>
            </a:r>
            <a:endParaRPr sz="1100">
              <a:solidFill>
                <a:srgbClr val="FCE5CD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300"/>
              <a:buChar char="●"/>
            </a:pPr>
            <a:r>
              <a:rPr lang="da" sz="1100">
                <a:solidFill>
                  <a:srgbClr val="FCE5CD"/>
                </a:solidFill>
              </a:rPr>
              <a:t>Linjen med daemon:x:1:1:daemon:/usr/sbin:/usr/sbin/nologin viser en systemkonto, som anvendes til bagvedliggende systemprocesser og ikke til normal interaktiv login.</a:t>
            </a:r>
            <a:endParaRPr sz="1100">
              <a:solidFill>
                <a:srgbClr val="FCE5CD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300"/>
              <a:buChar char="●"/>
            </a:pPr>
            <a:r>
              <a:rPr lang="da" sz="1100">
                <a:solidFill>
                  <a:srgbClr val="FCE5CD"/>
                </a:solidFill>
              </a:rPr>
              <a:t>Linjen med bin:x:2:2:bin:/bin:/usr/sbin/nologin viser endnu en lokal systemkonto, og dens tilstedeværelse i responsen bekræfter, at applikationen har læst og returneret indhold fra serverens lokale fil /etc/passwd</a:t>
            </a:r>
            <a:endParaRPr sz="1300">
              <a:solidFill>
                <a:srgbClr val="FCE5C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5800"/>
            <a:ext cx="9144002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