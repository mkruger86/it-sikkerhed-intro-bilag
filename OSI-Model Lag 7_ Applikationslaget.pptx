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erriweather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Merriweather-italic.fntdata"/><Relationship Id="rId10" Type="http://schemas.openxmlformats.org/officeDocument/2006/relationships/font" Target="fonts/Merriweather-bold.fntdata"/><Relationship Id="rId12" Type="http://schemas.openxmlformats.org/officeDocument/2006/relationships/font" Target="fonts/Merriweather-boldItalic.fntdata"/><Relationship Id="rId9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089f67e2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089f67e2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e881ad805_6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e881ad805_6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D0E0E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87525" y="105375"/>
            <a:ext cx="37242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a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Lag 7</a:t>
            </a:r>
            <a:endParaRPr b="1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311725" y="189825"/>
            <a:ext cx="39042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Applikationslaget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13" y="1010950"/>
            <a:ext cx="8108776" cy="39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4294967295" type="body"/>
          </p:nvPr>
        </p:nvSpPr>
        <p:spPr>
          <a:xfrm>
            <a:off x="1153300" y="959350"/>
            <a:ext cx="6717600" cy="791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da">
                <a:solidFill>
                  <a:schemeClr val="lt1"/>
                </a:solidFill>
              </a:rPr>
              <a:t>håndterer applikationsprotokoller som HTTP, DNS, SMTP, IMAP, DHCP og SNMP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>
            <p:ph idx="4294967295" type="body"/>
          </p:nvPr>
        </p:nvSpPr>
        <p:spPr>
          <a:xfrm>
            <a:off x="1153300" y="1820725"/>
            <a:ext cx="6717600" cy="791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da">
                <a:solidFill>
                  <a:schemeClr val="lt1"/>
                </a:solidFill>
              </a:rPr>
              <a:t>fortolker kommandoer, forespørgsler, svar og tjenester i </a:t>
            </a:r>
            <a:r>
              <a:rPr b="1" lang="da">
                <a:solidFill>
                  <a:schemeClr val="lt1"/>
                </a:solidFill>
              </a:rPr>
              <a:t>applikations-kommunikation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>
            <p:ph idx="4294967295" type="body"/>
          </p:nvPr>
        </p:nvSpPr>
        <p:spPr>
          <a:xfrm>
            <a:off x="1153300" y="2682100"/>
            <a:ext cx="6717600" cy="791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da">
                <a:solidFill>
                  <a:schemeClr val="lt1"/>
                </a:solidFill>
              </a:rPr>
              <a:t>modtager data gjort klar gennem oversættelse, komprimering og evt. dekryptering.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4" name="Google Shape;64;p14"/>
          <p:cNvSpPr txBox="1"/>
          <p:nvPr>
            <p:ph idx="4294967295" type="body"/>
          </p:nvPr>
        </p:nvSpPr>
        <p:spPr>
          <a:xfrm>
            <a:off x="1153300" y="3543475"/>
            <a:ext cx="6717600" cy="791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da">
                <a:solidFill>
                  <a:schemeClr val="lt1"/>
                </a:solidFill>
              </a:rPr>
              <a:t>Lag 6 gør data forståelige i korrekt format - lag 7 giver dem applikationsmæssig betydning.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302025" y="335175"/>
            <a:ext cx="492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3000">
                <a:solidFill>
                  <a:schemeClr val="lt1"/>
                </a:solidFill>
              </a:rPr>
              <a:t>Eksempel 1: Login, Hotmail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1019550" y="1586825"/>
            <a:ext cx="1455900" cy="459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a">
                <a:solidFill>
                  <a:schemeClr val="lt1"/>
                </a:solidFill>
              </a:rPr>
              <a:t>Handling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1019500" y="2221900"/>
            <a:ext cx="1455900" cy="459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a">
                <a:solidFill>
                  <a:schemeClr val="lt1"/>
                </a:solidFill>
              </a:rPr>
              <a:t>Protokol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841000" y="2856963"/>
            <a:ext cx="2111100" cy="529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a">
                <a:solidFill>
                  <a:schemeClr val="lt1"/>
                </a:solidFill>
              </a:rPr>
              <a:t>Interagerende lag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269050" y="3629125"/>
            <a:ext cx="3255000" cy="529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a">
                <a:solidFill>
                  <a:schemeClr val="lt1"/>
                </a:solidFill>
              </a:rPr>
              <a:t>Kompromitterings-muligheder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616650" y="1595925"/>
            <a:ext cx="5476500" cy="459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chemeClr val="lt1"/>
                </a:solidFill>
              </a:rPr>
              <a:t>Skriver en web-adresse, logger ind, henter mails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616650" y="2231014"/>
            <a:ext cx="5476500" cy="459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chemeClr val="lt1"/>
                </a:solidFill>
              </a:rPr>
              <a:t>DNS =&gt; IMAP =&gt; TLS =&gt; IMAP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616650" y="2783139"/>
            <a:ext cx="5476500" cy="659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chemeClr val="lt1"/>
                </a:solidFill>
              </a:rPr>
              <a:t>Lag 6 Kryptering med TLS og Lag 5 med Login Session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596075" y="3566225"/>
            <a:ext cx="5269800" cy="715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chemeClr val="lt1"/>
                </a:solidFill>
              </a:rPr>
              <a:t>Phishing mails, DNS </a:t>
            </a:r>
            <a:r>
              <a:rPr lang="da">
                <a:solidFill>
                  <a:schemeClr val="lt1"/>
                </a:solidFill>
              </a:rPr>
              <a:t>Spoofing</a:t>
            </a:r>
            <a:r>
              <a:rPr lang="da">
                <a:solidFill>
                  <a:schemeClr val="lt1"/>
                </a:solidFill>
              </a:rPr>
              <a:t>, Malware downloads og Man-in-the-</a:t>
            </a:r>
            <a:r>
              <a:rPr lang="da">
                <a:solidFill>
                  <a:schemeClr val="lt1"/>
                </a:solidFill>
              </a:rPr>
              <a:t>middle</a:t>
            </a:r>
            <a:r>
              <a:rPr lang="da">
                <a:solidFill>
                  <a:schemeClr val="lt1"/>
                </a:solidFill>
              </a:rPr>
              <a:t> attacks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